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71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59" r:id="rId19"/>
  </p:sldIdLst>
  <p:sldSz cx="12192000" cy="6858000"/>
  <p:notesSz cx="6858000" cy="9144000"/>
  <p:embeddedFontLst>
    <p:embeddedFont>
      <p:font typeface="Calibri" panose="020F0502020204030204"/>
      <p:regular r:id="rId23"/>
      <p:bold r:id="rId24"/>
      <p:italic r:id="rId25"/>
      <p:boldItalic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Lato Black" panose="020F0802020204030203"/>
      <p:bold r:id="rId31"/>
      <p:boldItalic r:id="rId32"/>
    </p:embeddedFont>
    <p:embeddedFont>
      <p:font typeface="Algerian" panose="04020705040A02060702" pitchFamily="82" charset="0"/>
      <p:regular r:id="rId33"/>
    </p:embeddedFont>
    <p:embeddedFont>
      <p:font typeface="Libre Baskerville" panose="0200000000000000000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7" Type="http://schemas.openxmlformats.org/officeDocument/2006/relationships/font" Target="fonts/font15.fntdata"/><Relationship Id="rId36" Type="http://schemas.openxmlformats.org/officeDocument/2006/relationships/font" Target="fonts/font14.fntdata"/><Relationship Id="rId35" Type="http://schemas.openxmlformats.org/officeDocument/2006/relationships/font" Target="fonts/font13.fntdata"/><Relationship Id="rId34" Type="http://schemas.openxmlformats.org/officeDocument/2006/relationships/font" Target="fonts/font12.fntdata"/><Relationship Id="rId33" Type="http://schemas.openxmlformats.org/officeDocument/2006/relationships/font" Target="fonts/font11.fntdata"/><Relationship Id="rId32" Type="http://schemas.openxmlformats.org/officeDocument/2006/relationships/font" Target="fonts/font10.fntdata"/><Relationship Id="rId31" Type="http://schemas.openxmlformats.org/officeDocument/2006/relationships/font" Target="fonts/font9.fntdata"/><Relationship Id="rId30" Type="http://schemas.openxmlformats.org/officeDocument/2006/relationships/font" Target="fonts/font8.fntdata"/><Relationship Id="rId3" Type="http://schemas.openxmlformats.org/officeDocument/2006/relationships/slide" Target="slides/slide1.xml"/><Relationship Id="rId29" Type="http://schemas.openxmlformats.org/officeDocument/2006/relationships/font" Target="fonts/font7.fntdata"/><Relationship Id="rId28" Type="http://schemas.openxmlformats.org/officeDocument/2006/relationships/font" Target="fonts/font6.fntdata"/><Relationship Id="rId27" Type="http://schemas.openxmlformats.org/officeDocument/2006/relationships/font" Target="fonts/font5.fntdata"/><Relationship Id="rId26" Type="http://schemas.openxmlformats.org/officeDocument/2006/relationships/font" Target="fonts/font4.fntdata"/><Relationship Id="rId25" Type="http://schemas.openxmlformats.org/officeDocument/2006/relationships/font" Target="fonts/font3.fntdata"/><Relationship Id="rId24" Type="http://schemas.openxmlformats.org/officeDocument/2006/relationships/font" Target="fonts/font2.fntdata"/><Relationship Id="rId23" Type="http://schemas.openxmlformats.org/officeDocument/2006/relationships/font" Target="fonts/font1.fntdata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</a:pPr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hyperlink" Target="SQL%20project%20on%20Library%20Management%20System.pptx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717986"/>
            <a:ext cx="7246189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br>
              <a:rPr lang="en-IN" sz="18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40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Library Management System</a:t>
            </a:r>
            <a:endParaRPr sz="4000" b="1" i="0" u="none" strike="noStrike" cap="none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714103" y="1429800"/>
            <a:ext cx="10946674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3238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IN" sz="2400" b="1" dirty="0" smtClean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Team Leader is </a:t>
            </a:r>
            <a:r>
              <a:rPr lang="en-IN" sz="2400" b="1" dirty="0" smtClean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Snigdha</a:t>
            </a:r>
            <a:r>
              <a:rPr lang="en-IN" sz="2400" b="1" dirty="0" smtClean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</a:t>
            </a:r>
            <a:endParaRPr lang="en-IN" sz="2400" b="1" dirty="0" smtClean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3238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IN" sz="2400" b="1" i="0" u="none" strike="noStrike" cap="none" dirty="0" smtClean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Background B-tech </a:t>
            </a:r>
            <a:r>
              <a:rPr lang="en-IN" sz="2400" b="1" i="0" u="none" strike="noStrike" cap="none" dirty="0" smtClean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&amp; MBA.</a:t>
            </a:r>
            <a:endParaRPr sz="2400" b="1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3238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IN" sz="2400" b="1" i="0" u="none" strike="noStrike" cap="none" dirty="0" smtClean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 choose Data Analytics to upgrade my technical skills in practical way which will show more opportunities in future</a:t>
            </a:r>
            <a:r>
              <a:rPr lang="en-IN" sz="2400" b="1" i="0" u="none" strike="noStrike" cap="none" dirty="0" smtClean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</a:t>
            </a:r>
            <a:endParaRPr lang="en-IN" sz="2400" b="1" i="0" u="none" strike="noStrike" cap="none" dirty="0" smtClean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3238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</a:pPr>
            <a:endParaRPr lang="en-IN" sz="2400" b="1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3238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IN" sz="2400" b="1" dirty="0" smtClean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Team Member: - Abhijit </a:t>
            </a:r>
            <a:r>
              <a:rPr lang="en-IN" sz="2400" b="1" dirty="0" err="1" smtClean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Palai</a:t>
            </a:r>
            <a:endParaRPr lang="en-IN" sz="2400" b="1" dirty="0" smtClean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3238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IN" sz="2400" b="1" i="0" u="none" strike="noStrike" cap="none" dirty="0" smtClean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Background: MCA</a:t>
            </a:r>
            <a:endParaRPr lang="en-IN" sz="2400" b="1" i="0" u="none" strike="noStrike" cap="none" dirty="0" smtClean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lvl="0" indent="-323850" algn="just"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want to build a strong foundation in Data Science so I can design and work on Machine Learning models — moving from labeling and preparing data to actually building the models that learn from it</a:t>
            </a:r>
            <a:r>
              <a:rPr lang="en-US" sz="24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24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323850" algn="just"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LinkedIn</a:t>
            </a:r>
            <a:r>
              <a:rPr lang="en-US" sz="24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4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1" action="ppaction://hlinkpres?slideindex=1&amp;slidetitle="/>
              </a:rPr>
              <a:t>linkedin.com/in/</a:t>
            </a:r>
            <a:r>
              <a:rPr lang="en-US" sz="2400" b="1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1" action="ppaction://hlinkpres?slideindex=1&amp;slidetitle="/>
              </a:rPr>
              <a:t>abhijitpalai</a:t>
            </a:r>
            <a:r>
              <a:rPr lang="en-US" sz="2400" b="1" i="0" u="none" strike="noStrike" cap="none" dirty="0" smtClean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/>
                <a:hlinkClick r:id="rId1" action="ppaction://hlinkpres?slideindex=1&amp;slidetitle="/>
              </a:rPr>
              <a:t> </a:t>
            </a:r>
            <a:endParaRPr lang="en-US" sz="2400" b="1" i="0" u="none" strike="noStrike" cap="none" dirty="0" smtClean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/>
            </a:endParaRPr>
          </a:p>
          <a:p>
            <a:pPr marL="285750" lvl="0" indent="-323850" algn="just"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sz="24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GitHub: github.com/Abhijit-</a:t>
            </a:r>
            <a:r>
              <a:rPr lang="en-US" sz="2400" b="1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palai</a:t>
            </a:r>
            <a:endParaRPr sz="2400" b="1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62490" y="747479"/>
            <a:ext cx="9534950" cy="4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 panose="020F0802020204030203"/>
              <a:buNone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Lato Black" panose="020F0802020204030203"/>
                <a:ea typeface="Lato Black" panose="020F0802020204030203"/>
                <a:cs typeface="Lato Black" panose="020F0802020204030203"/>
                <a:sym typeface="Lato Black" panose="020F0802020204030203"/>
              </a:rPr>
              <a:t>About </a:t>
            </a:r>
            <a:r>
              <a:rPr lang="en-IN" sz="3200" b="0" i="0" u="none" strike="noStrike" cap="none" dirty="0" smtClean="0">
                <a:solidFill>
                  <a:srgbClr val="FF0000"/>
                </a:solidFill>
                <a:latin typeface="Lato Black" panose="020F0802020204030203"/>
                <a:ea typeface="Lato Black" panose="020F0802020204030203"/>
                <a:cs typeface="Lato Black" panose="020F0802020204030203"/>
                <a:sym typeface="Lato Black" panose="020F0802020204030203"/>
              </a:rPr>
              <a:t>me (Both Team Leader and Team Member)</a:t>
            </a:r>
            <a:endParaRPr sz="1800" b="0" i="0" u="none" strike="noStrike" cap="none" dirty="0">
              <a:solidFill>
                <a:srgbClr val="FF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684880" y="366598"/>
            <a:ext cx="1003919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 panose="020F0502020204030204"/>
              <a:buNone/>
            </a:pPr>
            <a:r>
              <a:rPr lang="en-IN" b="1" dirty="0" smtClean="0">
                <a:solidFill>
                  <a:srgbClr val="FF0000"/>
                </a:solidFill>
              </a:rPr>
              <a:t>Contents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1493134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Objective of the Project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Key analysis </a:t>
            </a:r>
            <a:r>
              <a:rPr lang="en-IN" sz="2400" b="1" dirty="0" smtClean="0"/>
              <a:t>of questions </a:t>
            </a:r>
            <a:r>
              <a:rPr lang="en-IN" sz="2400" b="1" dirty="0"/>
              <a:t>(use cases)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Conclusion (Key finding overall) 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Q&amp;A Slide 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O</a:t>
            </a:r>
            <a:r>
              <a:rPr lang="en-IN" sz="2400" b="1" dirty="0" smtClean="0"/>
              <a:t>ur </a:t>
            </a:r>
            <a:r>
              <a:rPr lang="en-IN" sz="2400" b="1" dirty="0"/>
              <a:t>Experience/Challenges 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445932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E-R</a:t>
            </a:r>
            <a:r>
              <a:rPr lang="en-US" b="1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Diagram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123406"/>
            <a:ext cx="10445932" cy="50335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Objective of the </a:t>
            </a:r>
            <a:r>
              <a:rPr lang="en-IN" b="1" dirty="0" smtClean="0">
                <a:solidFill>
                  <a:srgbClr val="FF0000"/>
                </a:solidFill>
              </a:rPr>
              <a:t>Project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b="1" dirty="0" smtClean="0"/>
              <a:t>To analyze the Library Database and retrieve the required information by using SQL queries.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224563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Key analysis </a:t>
            </a:r>
            <a:r>
              <a:rPr lang="en-US" b="1" dirty="0" smtClean="0">
                <a:solidFill>
                  <a:srgbClr val="FF0000"/>
                </a:solidFill>
              </a:rPr>
              <a:t>of questions </a:t>
            </a:r>
            <a:r>
              <a:rPr lang="en-US" b="1" dirty="0">
                <a:solidFill>
                  <a:srgbClr val="FF0000"/>
                </a:solidFill>
              </a:rPr>
              <a:t>(use cases</a:t>
            </a:r>
            <a:r>
              <a:rPr lang="en-US" b="1" dirty="0" smtClean="0">
                <a:solidFill>
                  <a:srgbClr val="FF0000"/>
                </a:solidFill>
              </a:rPr>
              <a:t>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306286"/>
            <a:ext cx="10515600" cy="4870677"/>
          </a:xfrm>
        </p:spPr>
        <p:txBody>
          <a:bodyPr>
            <a:normAutofit fontScale="92500" lnSpcReduction="1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1800" b="1" dirty="0"/>
              <a:t>How many copies of the book titled "The Lost Tribe" are owned by the library branch whose name is "Sharpstown</a:t>
            </a:r>
            <a:r>
              <a:rPr lang="en-US" sz="1800" b="1" dirty="0" smtClean="0"/>
              <a:t>"?</a:t>
            </a:r>
            <a:endParaRPr lang="en-US" sz="1800" b="1" dirty="0" smtClean="0"/>
          </a:p>
          <a:p>
            <a:endParaRPr lang="en-US" sz="1800" dirty="0" smtClean="0"/>
          </a:p>
          <a:p>
            <a:endParaRPr lang="en-US" sz="1800" dirty="0"/>
          </a:p>
          <a:p>
            <a:endParaRPr lang="en-US" sz="1800" dirty="0" smtClean="0"/>
          </a:p>
          <a:p>
            <a:endParaRPr lang="en-US" sz="1800" dirty="0"/>
          </a:p>
          <a:p>
            <a:endParaRPr lang="en-US" sz="1800" dirty="0" smtClean="0"/>
          </a:p>
          <a:p>
            <a:endParaRPr lang="en-US" sz="1800" dirty="0"/>
          </a:p>
          <a:p>
            <a:endParaRPr lang="en-US" sz="1800" dirty="0" smtClean="0"/>
          </a:p>
          <a:p>
            <a:endParaRPr lang="en-US" sz="1800" dirty="0"/>
          </a:p>
          <a:p>
            <a:endParaRPr lang="en-US" sz="1800" dirty="0" smtClean="0"/>
          </a:p>
          <a:p>
            <a:endParaRPr lang="en-US" sz="1800" dirty="0" smtClean="0"/>
          </a:p>
          <a:p>
            <a:pPr algn="just"/>
            <a:r>
              <a:rPr lang="en-US" sz="1800" dirty="0" smtClean="0"/>
              <a:t>By using multiple joins on tbl_books , tbl_book_copies and tbl_library_branch tables </a:t>
            </a:r>
            <a:r>
              <a:rPr lang="en-US" sz="1800" dirty="0"/>
              <a:t>and where </a:t>
            </a:r>
            <a:r>
              <a:rPr lang="en-US" sz="1800" dirty="0" smtClean="0"/>
              <a:t>condition on book_Title</a:t>
            </a:r>
            <a:r>
              <a:rPr lang="en-US" sz="1800" dirty="0"/>
              <a:t> </a:t>
            </a:r>
            <a:r>
              <a:rPr lang="en-US" sz="1800" dirty="0" smtClean="0"/>
              <a:t>and library_branch_branchname attributes ,No_of_copies </a:t>
            </a:r>
            <a:r>
              <a:rPr lang="en-US" sz="1800" dirty="0"/>
              <a:t>of the book titled "The Lost Tribe" </a:t>
            </a:r>
            <a:r>
              <a:rPr lang="en-US" sz="1800" dirty="0" smtClean="0"/>
              <a:t> </a:t>
            </a:r>
            <a:r>
              <a:rPr lang="en-US" sz="1800" dirty="0"/>
              <a:t>which was owned by the library_branch_name is "Sharpstown“ </a:t>
            </a:r>
            <a:r>
              <a:rPr lang="en-US" sz="1800" dirty="0" smtClean="0"/>
              <a:t> is retrieved.</a:t>
            </a:r>
            <a:endParaRPr lang="en-US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5364" y="2133600"/>
            <a:ext cx="9877476" cy="2882537"/>
          </a:xfrm>
          <a:prstGeom prst="rect">
            <a:avLst/>
          </a:prstGeom>
          <a:ln w="19050">
            <a:solidFill>
              <a:schemeClr val="accent2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69608"/>
            <a:ext cx="10515600" cy="688612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700" b="1" dirty="0"/>
              <a:t>How many copies of the book titled "The Lost Tribe" are owned by each library branch?</a:t>
            </a:r>
            <a:endParaRPr lang="en-US" sz="17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320" y="1750422"/>
            <a:ext cx="9988731" cy="3370217"/>
          </a:xfrm>
          <a:prstGeom prst="rect">
            <a:avLst/>
          </a:prstGeom>
          <a:ln w="19050">
            <a:solidFill>
              <a:schemeClr val="accent2"/>
            </a:solidFill>
          </a:ln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54629"/>
            <a:ext cx="10515600" cy="4522334"/>
          </a:xfrm>
          <a:ln w="19050"/>
        </p:spPr>
        <p:txBody>
          <a:bodyPr>
            <a:normAutofit lnSpcReduction="10000"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 smtClean="0"/>
          </a:p>
          <a:p>
            <a:endParaRPr lang="en-US" sz="1600" dirty="0"/>
          </a:p>
          <a:p>
            <a:pPr algn="just"/>
            <a:r>
              <a:rPr lang="en-US" sz="1700" dirty="0"/>
              <a:t>By using multiple joins </a:t>
            </a:r>
            <a:r>
              <a:rPr lang="en-US" sz="1700" dirty="0" smtClean="0"/>
              <a:t>on </a:t>
            </a:r>
            <a:r>
              <a:rPr lang="en-US" sz="1700" dirty="0"/>
              <a:t>tbl_books , tbl_book_copies and tbl_library_branch </a:t>
            </a:r>
            <a:r>
              <a:rPr lang="en-US" sz="1700" dirty="0" smtClean="0"/>
              <a:t>tables </a:t>
            </a:r>
            <a:r>
              <a:rPr lang="en-US" sz="1700" dirty="0"/>
              <a:t>and where </a:t>
            </a:r>
            <a:r>
              <a:rPr lang="en-US" sz="1700" dirty="0" smtClean="0"/>
              <a:t>condition on book_Title attribute, No_of_copies </a:t>
            </a:r>
            <a:r>
              <a:rPr lang="en-US" sz="1700" dirty="0"/>
              <a:t>of the book titled "The Lost Tribe" are owned by each library </a:t>
            </a:r>
            <a:r>
              <a:rPr lang="en-US" sz="1700" dirty="0" smtClean="0"/>
              <a:t>branch is retrieved.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59267"/>
            <a:ext cx="10515600" cy="863374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700" b="1" dirty="0"/>
              <a:t>Retrieve the names of all borrowers who do not have any books checked out.</a:t>
            </a:r>
            <a:endParaRPr lang="en-US" sz="1700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algn="just"/>
            <a:r>
              <a:rPr lang="en-US" sz="1700" dirty="0" smtClean="0"/>
              <a:t>By using left join on tbl_Borrower and tbl_book_loans tables and </a:t>
            </a:r>
            <a:r>
              <a:rPr lang="en-US" sz="1700" dirty="0" smtClean="0"/>
              <a:t>where </a:t>
            </a:r>
            <a:r>
              <a:rPr lang="en-US" sz="1700" dirty="0" smtClean="0"/>
              <a:t>&amp; is </a:t>
            </a:r>
            <a:r>
              <a:rPr lang="en-US" sz="1700" dirty="0" smtClean="0"/>
              <a:t>null condition </a:t>
            </a:r>
            <a:r>
              <a:rPr lang="en-US" sz="1700" dirty="0" smtClean="0"/>
              <a:t>on book_loans_cardNo attribute to retrieve the </a:t>
            </a:r>
            <a:r>
              <a:rPr lang="en-US" sz="1700" dirty="0"/>
              <a:t>names of all borrowers </a:t>
            </a:r>
            <a:r>
              <a:rPr lang="en-US" sz="1700" dirty="0" smtClean="0"/>
              <a:t>who did not have any books checked out.</a:t>
            </a:r>
            <a:endParaRPr lang="en-US" sz="17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39" y="1593670"/>
            <a:ext cx="9805851" cy="3648890"/>
          </a:xfrm>
          <a:prstGeom prst="rect">
            <a:avLst/>
          </a:prstGeom>
          <a:ln w="19050">
            <a:solidFill>
              <a:schemeClr val="accent2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498" y="388099"/>
            <a:ext cx="10515600" cy="915625"/>
          </a:xfrm>
        </p:spPr>
        <p:txBody>
          <a:bodyPr>
            <a:norm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700" b="1" dirty="0"/>
              <a:t>For each book that is loaned out from the "Sharpstown" branch and whose DueDate is 2/3/18, retrieve the book title, the borrower's name, and the borrower's address.</a:t>
            </a:r>
            <a:endParaRPr lang="en-US" sz="17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303725"/>
            <a:ext cx="10448109" cy="3755956"/>
          </a:xfrm>
          <a:prstGeom prst="rect">
            <a:avLst/>
          </a:prstGeom>
          <a:ln w="19050">
            <a:solidFill>
              <a:schemeClr val="accent2"/>
            </a:solidFill>
          </a:ln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algn="just"/>
            <a:r>
              <a:rPr lang="en-US" sz="1700" dirty="0" smtClean="0"/>
              <a:t>By using multiple joins on </a:t>
            </a:r>
            <a:r>
              <a:rPr lang="en-US" sz="1700" dirty="0"/>
              <a:t>tbl_book</a:t>
            </a:r>
            <a:r>
              <a:rPr lang="en-US" sz="1700" dirty="0" smtClean="0"/>
              <a:t> ,</a:t>
            </a:r>
            <a:r>
              <a:rPr lang="en-US" sz="1700" dirty="0"/>
              <a:t> </a:t>
            </a:r>
            <a:r>
              <a:rPr lang="en-US" sz="1700" dirty="0" smtClean="0"/>
              <a:t>tbl_book_loans,</a:t>
            </a:r>
            <a:r>
              <a:rPr lang="en-US" sz="1700" dirty="0"/>
              <a:t> </a:t>
            </a:r>
            <a:r>
              <a:rPr lang="en-US" sz="1700" dirty="0" smtClean="0"/>
              <a:t>tbl_borrower,</a:t>
            </a:r>
            <a:r>
              <a:rPr lang="en-US" sz="1700" dirty="0"/>
              <a:t> </a:t>
            </a:r>
            <a:r>
              <a:rPr lang="en-US" sz="1700" dirty="0" smtClean="0"/>
              <a:t>tbl_library_branch tables and where condition on </a:t>
            </a:r>
            <a:r>
              <a:rPr lang="en-US" sz="1700" dirty="0"/>
              <a:t>library_branch_BranchName </a:t>
            </a:r>
            <a:r>
              <a:rPr lang="en-US" sz="1700" dirty="0" smtClean="0"/>
              <a:t>&amp; book_loans_DueDate attributes to retrieve book </a:t>
            </a:r>
            <a:r>
              <a:rPr lang="en-US" sz="1700" dirty="0"/>
              <a:t>title, the borrower's </a:t>
            </a:r>
            <a:r>
              <a:rPr lang="en-US" sz="1700" dirty="0" smtClean="0"/>
              <a:t>name </a:t>
            </a:r>
            <a:r>
              <a:rPr lang="en-US" sz="1700" dirty="0"/>
              <a:t>and the borrower's </a:t>
            </a:r>
            <a:r>
              <a:rPr lang="en-US" sz="1700" dirty="0" smtClean="0"/>
              <a:t>address for </a:t>
            </a:r>
            <a:r>
              <a:rPr lang="en-US" sz="1700" dirty="0"/>
              <a:t>each book that is loaned out from the "Sharpstown" branch and whose DueDate is </a:t>
            </a:r>
            <a:r>
              <a:rPr lang="en-US" sz="1700" dirty="0" smtClean="0"/>
              <a:t>2/3/18.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5035"/>
          </a:xfrm>
        </p:spPr>
        <p:txBody>
          <a:bodyPr>
            <a:normAutofit/>
          </a:bodyPr>
          <a:lstStyle/>
          <a:p>
            <a:pPr marL="342900" indent="-342900" algn="just" fontAlgn="base">
              <a:buFont typeface="Wingdings" panose="05000000000000000000" pitchFamily="2" charset="2"/>
              <a:buChar char="Ø"/>
            </a:pPr>
            <a:r>
              <a:rPr lang="en-US" sz="1900" b="1" dirty="0"/>
              <a:t>For each library branch, retrieve the branch name and the total number of books loaned out from that branch</a:t>
            </a:r>
            <a:r>
              <a:rPr lang="en-US" sz="1900" b="1" dirty="0" smtClean="0"/>
              <a:t>.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sz="1700" dirty="0" smtClean="0"/>
          </a:p>
          <a:p>
            <a:pPr algn="just"/>
            <a:r>
              <a:rPr lang="en-US" sz="1700" dirty="0" smtClean="0"/>
              <a:t>By using join i.e. inner join on tbl_library_branch,</a:t>
            </a:r>
            <a:r>
              <a:rPr lang="en-US" sz="1700" dirty="0"/>
              <a:t> </a:t>
            </a:r>
            <a:r>
              <a:rPr lang="en-US" sz="1700" dirty="0" smtClean="0"/>
              <a:t>tbl_book_loans tables and group by on library_branch_BranchName attribute to retrieve the </a:t>
            </a:r>
            <a:r>
              <a:rPr lang="en-US" sz="1700" dirty="0"/>
              <a:t>total number of books loaned out from that </a:t>
            </a:r>
            <a:r>
              <a:rPr lang="en-US" sz="1700" dirty="0" smtClean="0"/>
              <a:t>branch for </a:t>
            </a:r>
            <a:r>
              <a:rPr lang="en-US" sz="1700" dirty="0"/>
              <a:t>each library </a:t>
            </a:r>
            <a:r>
              <a:rPr lang="en-US" sz="1700" dirty="0" smtClean="0"/>
              <a:t>branch by count aggregate function and </a:t>
            </a:r>
            <a:r>
              <a:rPr lang="en-US" sz="1700" dirty="0"/>
              <a:t>branch </a:t>
            </a:r>
            <a:r>
              <a:rPr lang="en-US" sz="1700" dirty="0" smtClean="0"/>
              <a:t>name.</a:t>
            </a:r>
            <a:endParaRPr lang="en-US" sz="17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446" y="1384664"/>
            <a:ext cx="10291354" cy="3709850"/>
          </a:xfrm>
          <a:prstGeom prst="rect">
            <a:avLst/>
          </a:prstGeom>
          <a:ln w="19050">
            <a:solidFill>
              <a:schemeClr val="accent2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900" b="1" dirty="0"/>
              <a:t>Retrieve the names, addresses, and number of books checked out for all borrowers who have more than five books checked out</a:t>
            </a:r>
            <a:r>
              <a:rPr lang="en-US" sz="1900" b="1" dirty="0" smtClean="0"/>
              <a:t>.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sz="1700" dirty="0"/>
          </a:p>
          <a:p>
            <a:endParaRPr lang="en-US" sz="1700" dirty="0" smtClean="0"/>
          </a:p>
          <a:p>
            <a:endParaRPr lang="en-US" sz="1700" dirty="0"/>
          </a:p>
          <a:p>
            <a:endParaRPr lang="en-US" sz="1700" dirty="0" smtClean="0"/>
          </a:p>
          <a:p>
            <a:endParaRPr lang="en-US" sz="1700" dirty="0"/>
          </a:p>
          <a:p>
            <a:endParaRPr lang="en-US" sz="1700" dirty="0" smtClean="0"/>
          </a:p>
          <a:p>
            <a:endParaRPr lang="en-US" sz="1700" dirty="0"/>
          </a:p>
          <a:p>
            <a:pPr algn="just"/>
            <a:r>
              <a:rPr lang="en-US" sz="1700" dirty="0"/>
              <a:t>By using join i.e. inner join on </a:t>
            </a:r>
            <a:r>
              <a:rPr lang="en-US" sz="1700" dirty="0" smtClean="0"/>
              <a:t>tbl_borrower, </a:t>
            </a:r>
            <a:r>
              <a:rPr lang="en-US" sz="1700" dirty="0"/>
              <a:t>tbl_book_loans tables and group by on </a:t>
            </a:r>
            <a:r>
              <a:rPr lang="en-US" sz="1700" dirty="0" smtClean="0"/>
              <a:t>books_loans_CardNo attribute, having condition on No_of_books_checked_out </a:t>
            </a:r>
            <a:r>
              <a:rPr lang="en-US" sz="1700" dirty="0"/>
              <a:t>attribute to </a:t>
            </a:r>
            <a:r>
              <a:rPr lang="en-US" sz="1700" dirty="0" smtClean="0"/>
              <a:t>retrieve </a:t>
            </a:r>
            <a:r>
              <a:rPr lang="en-US" sz="1800" dirty="0"/>
              <a:t>the number of books checked out for all borrowers who have more than five books checked </a:t>
            </a:r>
            <a:r>
              <a:rPr lang="en-US" sz="1800" dirty="0" smtClean="0"/>
              <a:t>out by count </a:t>
            </a:r>
            <a:r>
              <a:rPr lang="en-US" sz="1800" dirty="0"/>
              <a:t>aggregate function </a:t>
            </a:r>
            <a:r>
              <a:rPr lang="en-US" sz="1800" dirty="0" smtClean="0"/>
              <a:t> and borrower_BorrowerName, borrower_BorrowerAddress.</a:t>
            </a:r>
            <a:endParaRPr lang="en-US" sz="1700" dirty="0"/>
          </a:p>
          <a:p>
            <a:endParaRPr lang="en-US" sz="17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518" y="1515291"/>
            <a:ext cx="10230281" cy="3251135"/>
          </a:xfrm>
          <a:prstGeom prst="rect">
            <a:avLst/>
          </a:prstGeom>
          <a:ln w="19050">
            <a:solidFill>
              <a:schemeClr val="accent2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900" b="1" dirty="0"/>
              <a:t>For each book authored by "Stephen King", retrieve the title and the number of copies owned by the library branch whose name is "Central</a:t>
            </a:r>
            <a:r>
              <a:rPr lang="en-US" sz="1900" b="1" dirty="0" smtClean="0"/>
              <a:t>".</a:t>
            </a:r>
            <a:endParaRPr lang="en-US" sz="1900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algn="just"/>
            <a:r>
              <a:rPr lang="en-US" sz="1800" dirty="0"/>
              <a:t>By </a:t>
            </a:r>
            <a:r>
              <a:rPr lang="en-US" sz="1800" dirty="0" smtClean="0"/>
              <a:t>using multiple joins </a:t>
            </a:r>
            <a:r>
              <a:rPr lang="en-US" sz="1800" dirty="0"/>
              <a:t>i.e. inner join on </a:t>
            </a:r>
            <a:r>
              <a:rPr lang="en-US" sz="1800" dirty="0" smtClean="0"/>
              <a:t>tbl_book_copies, tbl_book, tbl_library_branch, tbl_book_authors tables </a:t>
            </a:r>
            <a:r>
              <a:rPr lang="en-US" sz="1800" dirty="0"/>
              <a:t>and </a:t>
            </a:r>
            <a:r>
              <a:rPr lang="en-US" sz="1800" dirty="0" smtClean="0"/>
              <a:t>where </a:t>
            </a:r>
            <a:r>
              <a:rPr lang="en-US" sz="1800" dirty="0"/>
              <a:t>condition on </a:t>
            </a:r>
            <a:r>
              <a:rPr lang="en-US" sz="1800" dirty="0" smtClean="0"/>
              <a:t>book_authors_AuthorName &amp; library_branch_BranchName attributes </a:t>
            </a:r>
            <a:r>
              <a:rPr lang="en-US" sz="1800" dirty="0"/>
              <a:t>to </a:t>
            </a:r>
            <a:r>
              <a:rPr lang="en-US" sz="1800" dirty="0" smtClean="0"/>
              <a:t>retrieve </a:t>
            </a:r>
            <a:r>
              <a:rPr lang="en-US" sz="1800" dirty="0"/>
              <a:t>the title and the number of copies owned by the library branch whose name is "</a:t>
            </a:r>
            <a:r>
              <a:rPr lang="en-US" sz="1800" dirty="0" smtClean="0"/>
              <a:t>Central“ and each </a:t>
            </a:r>
            <a:r>
              <a:rPr lang="en-US" sz="1800" dirty="0"/>
              <a:t>book authored by "Stephen King</a:t>
            </a:r>
            <a:r>
              <a:rPr lang="en-US" sz="1800" dirty="0" smtClean="0"/>
              <a:t>".</a:t>
            </a:r>
            <a:endParaRPr lang="en-US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526" y="1672438"/>
            <a:ext cx="10413274" cy="3169528"/>
          </a:xfrm>
          <a:prstGeom prst="rect">
            <a:avLst/>
          </a:prstGeom>
          <a:ln w="19050">
            <a:solidFill>
              <a:schemeClr val="accent2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9995"/>
            <a:ext cx="10515600" cy="1028246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Conclusion (Key finding overall)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018904"/>
            <a:ext cx="10515600" cy="515806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1700" dirty="0" smtClean="0"/>
              <a:t>No_of_copies </a:t>
            </a:r>
            <a:r>
              <a:rPr lang="en-US" sz="1700" dirty="0"/>
              <a:t>of the book titled "The Lost Tribe" are owned by the library branch whose name is "</a:t>
            </a:r>
            <a:r>
              <a:rPr lang="en-US" sz="1700" dirty="0" smtClean="0"/>
              <a:t>Sharpstown“ is retrieved as 5.</a:t>
            </a:r>
            <a:endParaRPr lang="en-US" sz="1700" dirty="0" smtClean="0"/>
          </a:p>
          <a:p>
            <a:pPr algn="just"/>
            <a:r>
              <a:rPr lang="en-US" sz="1700" dirty="0"/>
              <a:t>No_of_copies</a:t>
            </a:r>
            <a:r>
              <a:rPr lang="en-US" sz="1700" dirty="0" smtClean="0"/>
              <a:t> </a:t>
            </a:r>
            <a:r>
              <a:rPr lang="en-US" sz="1700" dirty="0"/>
              <a:t>of the book titled "The Lost Tribe" are owned by each library </a:t>
            </a:r>
            <a:r>
              <a:rPr lang="en-US" sz="1700" dirty="0" smtClean="0"/>
              <a:t>branch retrieved as </a:t>
            </a:r>
            <a:r>
              <a:rPr lang="en-US" sz="1700" dirty="0"/>
              <a:t>for </a:t>
            </a:r>
            <a:r>
              <a:rPr lang="en-US" sz="1700" dirty="0" smtClean="0"/>
              <a:t>Sharpstown branch as 5 copies, for Central branch as 5 copies</a:t>
            </a:r>
            <a:r>
              <a:rPr lang="en-US" sz="1700" dirty="0"/>
              <a:t>, for </a:t>
            </a:r>
            <a:r>
              <a:rPr lang="en-US" sz="1700" dirty="0" smtClean="0"/>
              <a:t>Saline branch as 5 copies</a:t>
            </a:r>
            <a:r>
              <a:rPr lang="en-US" sz="1700" dirty="0"/>
              <a:t>, for Ann </a:t>
            </a:r>
            <a:r>
              <a:rPr lang="en-US" sz="1700" dirty="0" smtClean="0"/>
              <a:t>Arbor branch as 5 copies.</a:t>
            </a:r>
            <a:endParaRPr lang="en-US" sz="1700" dirty="0" smtClean="0"/>
          </a:p>
          <a:p>
            <a:pPr algn="just"/>
            <a:r>
              <a:rPr lang="en-US" sz="1700" dirty="0"/>
              <a:t>N</a:t>
            </a:r>
            <a:r>
              <a:rPr lang="en-US" sz="1700" dirty="0" smtClean="0"/>
              <a:t>ames </a:t>
            </a:r>
            <a:r>
              <a:rPr lang="en-US" sz="1700" dirty="0"/>
              <a:t>of all borrowers who do not have any books checked </a:t>
            </a:r>
            <a:r>
              <a:rPr lang="en-US" sz="1700" dirty="0" smtClean="0"/>
              <a:t>out is retrieved as Jane smith.</a:t>
            </a:r>
            <a:endParaRPr lang="en-US" sz="1700" dirty="0" smtClean="0"/>
          </a:p>
          <a:p>
            <a:pPr algn="just"/>
            <a:r>
              <a:rPr lang="en-US" sz="1700" dirty="0"/>
              <a:t>For each book that is loaned out from the "Sharpstown" branch and whose DueDate is 2/3/18 </a:t>
            </a:r>
            <a:r>
              <a:rPr lang="en-US" sz="1700" dirty="0" smtClean="0"/>
              <a:t>retrieved as        </a:t>
            </a:r>
            <a:r>
              <a:rPr lang="en-US" sz="1700" dirty="0" smtClean="0">
                <a:solidFill>
                  <a:schemeClr val="tx1"/>
                </a:solidFill>
              </a:rPr>
              <a:t> </a:t>
            </a:r>
            <a:r>
              <a:rPr lang="en-US" sz="1700" dirty="0">
                <a:solidFill>
                  <a:schemeClr val="tx1"/>
                </a:solidFill>
              </a:rPr>
              <a:t>6 </a:t>
            </a:r>
            <a:r>
              <a:rPr lang="en-US" sz="1700" dirty="0" smtClean="0">
                <a:solidFill>
                  <a:schemeClr val="tx1"/>
                </a:solidFill>
              </a:rPr>
              <a:t>books </a:t>
            </a:r>
            <a:r>
              <a:rPr lang="en-US" sz="1700" dirty="0">
                <a:solidFill>
                  <a:schemeClr val="tx1"/>
                </a:solidFill>
              </a:rPr>
              <a:t>i.e. The Hobbit, Eragon, A Wise Mans Fear, Harry Potter and the Philosophers Stone, Hard Boiled Wonderland and The End of the World, The Hitchhikers Guide to the </a:t>
            </a:r>
            <a:r>
              <a:rPr lang="en-US" sz="1700" dirty="0" smtClean="0">
                <a:solidFill>
                  <a:schemeClr val="tx1"/>
                </a:solidFill>
              </a:rPr>
              <a:t>Galaxy, </a:t>
            </a:r>
            <a:r>
              <a:rPr lang="en-US" sz="1700" dirty="0">
                <a:solidFill>
                  <a:schemeClr val="tx1"/>
                </a:solidFill>
              </a:rPr>
              <a:t>currently due on 2/3/18 from the Sharpstown branch, and all of them are borrowed by Tom Li, whose address is 981 Main Street, Ann Arbor, MI 48104. </a:t>
            </a:r>
            <a:endParaRPr lang="en-US" sz="1700" dirty="0" smtClean="0">
              <a:solidFill>
                <a:schemeClr val="tx1"/>
              </a:solidFill>
            </a:endParaRPr>
          </a:p>
          <a:p>
            <a:pPr algn="just"/>
            <a:r>
              <a:rPr lang="en-US" sz="1700" dirty="0"/>
              <a:t>T</a:t>
            </a:r>
            <a:r>
              <a:rPr lang="en-US" sz="1700" dirty="0" smtClean="0"/>
              <a:t>he </a:t>
            </a:r>
            <a:r>
              <a:rPr lang="en-US" sz="1700" dirty="0"/>
              <a:t>total number of books currently loaned out from each library branch by grouping the loan records based on the branch </a:t>
            </a:r>
            <a:r>
              <a:rPr lang="en-US" sz="1700" dirty="0" smtClean="0"/>
              <a:t>name are </a:t>
            </a:r>
            <a:r>
              <a:rPr lang="en-US" sz="1700" dirty="0"/>
              <a:t>Central has the highest number of books loaned out (11), while Sharpstown, Saline, and Ann Arbor each have 10 books loaned </a:t>
            </a:r>
            <a:r>
              <a:rPr lang="en-US" sz="1700" dirty="0" smtClean="0"/>
              <a:t>out.</a:t>
            </a:r>
            <a:endParaRPr lang="en-US" sz="1700" dirty="0" smtClean="0">
              <a:solidFill>
                <a:schemeClr val="tx1"/>
              </a:solidFill>
            </a:endParaRPr>
          </a:p>
          <a:p>
            <a:pPr algn="just"/>
            <a:r>
              <a:rPr lang="en-US" sz="1700" dirty="0"/>
              <a:t>There are 3 borrowers who have more than 5 books checked out. Tom Li </a:t>
            </a:r>
            <a:r>
              <a:rPr lang="en-US" sz="1700" dirty="0" smtClean="0"/>
              <a:t>with </a:t>
            </a:r>
            <a:r>
              <a:rPr lang="en-US" sz="1700" dirty="0"/>
              <a:t>13 books, </a:t>
            </a:r>
            <a:r>
              <a:rPr lang="en-US" sz="1700" dirty="0" smtClean="0"/>
              <a:t> </a:t>
            </a:r>
            <a:r>
              <a:rPr lang="en-US" sz="1700" dirty="0"/>
              <a:t>Joe Smith with 7 books and Tom Haverford with 6 </a:t>
            </a:r>
            <a:r>
              <a:rPr lang="en-US" sz="1700" dirty="0" smtClean="0"/>
              <a:t>books.</a:t>
            </a:r>
            <a:endParaRPr lang="en-US" sz="1700" dirty="0" smtClean="0"/>
          </a:p>
          <a:p>
            <a:pPr algn="just"/>
            <a:r>
              <a:rPr lang="en-US" sz="1700" dirty="0"/>
              <a:t>The Central library branch owns two books authored by Stephen King—It and The Green Mile. Each title has 5 </a:t>
            </a:r>
            <a:r>
              <a:rPr lang="en-US" sz="1700" dirty="0" smtClean="0"/>
              <a:t>copies.</a:t>
            </a:r>
            <a:endParaRPr lang="en-US" sz="17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857" y="2618105"/>
            <a:ext cx="10515600" cy="1892935"/>
          </a:xfrm>
        </p:spPr>
        <p:txBody>
          <a:bodyPr>
            <a:normAutofit/>
          </a:bodyPr>
          <a:lstStyle/>
          <a:p>
            <a:pPr marL="114300" indent="0" algn="ctr">
              <a:buNone/>
            </a:pPr>
            <a:r>
              <a:rPr lang="en-US" sz="4000" dirty="0" smtClean="0">
                <a:solidFill>
                  <a:srgbClr val="7030A0"/>
                </a:solidFill>
                <a:latin typeface="Algerian" panose="04020705040A02060702" pitchFamily="82" charset="0"/>
              </a:rPr>
              <a:t>Any Queries?</a:t>
            </a:r>
            <a:endParaRPr lang="en-US" sz="4000" dirty="0">
              <a:solidFill>
                <a:srgbClr val="7030A0"/>
              </a:solidFill>
              <a:latin typeface="Algerian" panose="04020705040A02060702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Our Experience/Challenges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dirty="0" smtClean="0"/>
              <a:t>we faced bit difficulty to find out books checked out attribute as terminology is different and direct attribute is not there in any of the tables of library Database.</a:t>
            </a:r>
            <a:endParaRPr lang="en-US" dirty="0" smtClean="0"/>
          </a:p>
          <a:p>
            <a:pPr algn="just"/>
            <a:r>
              <a:rPr lang="en-US" dirty="0" smtClean="0"/>
              <a:t>Overall used all the learned concepts in SQL module on library Database and gained practical knowledge.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 panose="02000000000000000000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 panose="02000000000000000000"/>
                <a:ea typeface="Libre Baskerville" panose="02000000000000000000"/>
                <a:cs typeface="Libre Baskerville" panose="02000000000000000000"/>
                <a:sym typeface="Libre Baskerville" panose="02000000000000000000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5390</Words>
  <Application>WPS Presentation</Application>
  <PresentationFormat>Widescreen</PresentationFormat>
  <Paragraphs>125</Paragraphs>
  <Slides>16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SimSun</vt:lpstr>
      <vt:lpstr>Wingdings</vt:lpstr>
      <vt:lpstr>Arial</vt:lpstr>
      <vt:lpstr>Calibri</vt:lpstr>
      <vt:lpstr>Calibri</vt:lpstr>
      <vt:lpstr>Lato Black</vt:lpstr>
      <vt:lpstr>Algerian</vt:lpstr>
      <vt:lpstr>Libre Baskerville</vt:lpstr>
      <vt:lpstr>Microsoft YaHei</vt:lpstr>
      <vt:lpstr>Arial Unicode MS</vt:lpstr>
      <vt:lpstr>Office Theme</vt:lpstr>
      <vt:lpstr>PowerPoint 演示文稿</vt:lpstr>
      <vt:lpstr>PowerPoint 演示文稿</vt:lpstr>
      <vt:lpstr>Contents</vt:lpstr>
      <vt:lpstr>E-R Diagram</vt:lpstr>
      <vt:lpstr>Objective of the Project</vt:lpstr>
      <vt:lpstr>Key analysis of questions (use cases)</vt:lpstr>
      <vt:lpstr>How many copies of the book titled "The Lost Tribe" are owned by each library branch?</vt:lpstr>
      <vt:lpstr>Retrieve the names of all borrowers who do not have any books checked out.</vt:lpstr>
      <vt:lpstr>For each book that is loaned out from the "Sharpstown" branch and whose DueDate is 2/3/18, retrieve the book title, the borrower's name, and the borrower's address.</vt:lpstr>
      <vt:lpstr>For each library branch, retrieve the branch name and the total number of books loaned out from that branch.</vt:lpstr>
      <vt:lpstr>Retrieve the names, addresses, and number of books checked out for all borrowers who have more than five books checked out.</vt:lpstr>
      <vt:lpstr>For each book authored by "Stephen King", retrieve the title and the number of copies owned by the library branch whose name is "Central".</vt:lpstr>
      <vt:lpstr>Conclusion (Key finding overall) </vt:lpstr>
      <vt:lpstr>PowerPoint 演示文稿</vt:lpstr>
      <vt:lpstr>Our Experience/Challenges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WPS_1718161337</cp:lastModifiedBy>
  <cp:revision>53</cp:revision>
  <dcterms:created xsi:type="dcterms:W3CDTF">2021-02-16T05:19:00Z</dcterms:created>
  <dcterms:modified xsi:type="dcterms:W3CDTF">2026-07-11T07:24:09Z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48181A107FC1462CA189A1A8B046C2F8_12</vt:lpwstr>
  </property>
</Properties>
</file>